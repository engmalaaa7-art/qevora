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2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Waitlist</c:v>
                </c:pt>
              </c:strCache>
            </c:strRef>
          </c:tx>
          <c:spPr>
            <a:solidFill>
              <a:srgbClr val="7C3AE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Wk 1</c:v>
                  </c:pt>
                  <c:pt idx="1">
                    <c:v>Wk 2</c:v>
                  </c:pt>
                  <c:pt idx="2">
                    <c:v>Wk 3</c:v>
                  </c:pt>
                  <c:pt idx="3">
                    <c:v>Wk 4</c:v>
                  </c:pt>
                  <c:pt idx="4">
                    <c:v>Wk 5</c:v>
                  </c:pt>
                  <c:pt idx="5">
                    <c:v>Wk 6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180</c:v>
                </c:pt>
                <c:pt idx="1">
                  <c:v>420</c:v>
                </c:pt>
                <c:pt idx="2">
                  <c:v>780</c:v>
                </c:pt>
                <c:pt idx="3">
                  <c:v>1350</c:v>
                </c:pt>
                <c:pt idx="4">
                  <c:v>2600</c:v>
                </c:pt>
                <c:pt idx="5">
                  <c:v>4200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6A9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2d1a5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6A9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30D2A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ARR ($K)</c:v>
                </c:pt>
              </c:strCache>
            </c:strRef>
          </c:tx>
          <c:spPr>
            <a:solidFill>
              <a:srgbClr val="C084FC"/>
            </a:solidFill>
            <a:ln w="38100" cap="flat">
              <a:solidFill>
                <a:srgbClr val="C084F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084FC"/>
              </a:solidFill>
              <a:ln w="9525" cap="flat">
                <a:solidFill>
                  <a:srgbClr val="C084F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Q1'25</c:v>
                  </c:pt>
                  <c:pt idx="1">
                    <c:v>Q2'25</c:v>
                  </c:pt>
                  <c:pt idx="2">
                    <c:v>Q3'25</c:v>
                  </c:pt>
                  <c:pt idx="3">
                    <c:v>Q4'25</c:v>
                  </c:pt>
                  <c:pt idx="4">
                    <c:v>Q1'26</c:v>
                  </c:pt>
                  <c:pt idx="5">
                    <c:v>Q2'26</c:v>
                  </c:pt>
                  <c:pt idx="6">
                    <c:v>Q3'26</c:v>
                  </c:pt>
                  <c:pt idx="7">
                    <c:v>Q4'26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18</c:v>
                </c:pt>
                <c:pt idx="1">
                  <c:v>95</c:v>
                </c:pt>
                <c:pt idx="2">
                  <c:v>320</c:v>
                </c:pt>
                <c:pt idx="3">
                  <c:v>780</c:v>
                </c:pt>
                <c:pt idx="4">
                  <c:v>1600</c:v>
                </c:pt>
                <c:pt idx="5">
                  <c:v>3400</c:v>
                </c:pt>
                <c:pt idx="6">
                  <c:v>6200</c:v>
                </c:pt>
                <c:pt idx="7">
                  <c:v>10400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6A9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2d1a5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6A9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30D2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Qevora is an AI-powered SaaS platform. This deck covers the problem, our solution, market, business model, traction, team, and ask.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website creation market is massive but broken. 3 core pain points: time, cost, and technical complexity.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Qevora takes a natural language description and generates a complete website in seconds. The core loop is simple: describe → AI builds → publish.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Qevora isn't a simple template tool. It's a full-stack platform covering generation, editing, publishing, SEO, and export.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market is enormous. Our initial SOM is $2.1B — SMBs and solo creators who need a website but can't afford an agency.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sit in the high-AI, low-complexity quadrant — a space nobody else fully owns. Framer and Webflow require expertise. Wix/Squarespace lack real AI. We bridge both worlds.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Freemium funnel drives acquisition. Pro at $19/mo is the core revenue driver. Agency tier unlocks B2B land-and-expand.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4,200 waitlist signups with zero paid marketing is a strong signal. 89% retention shows the product delivers real value.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Three-phase GTM: product-led growth through the free tier, then content SEO, then enterprise B2B. Each phase compounds on the last.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Conservative projections based on 8% freemium conversion rate. At scale, gross margins reach 82% due to low infrastructure cost per site.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Strong founding team across AI, design, engineering, and growth. We have the right people to execute this vision.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We're looking for smart capital — investors who understand AI, SaaS, and the future of the web. The window to lead this market is open now.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4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5486400" cy="548640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07040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0" y="1828800"/>
            <a:ext cx="4572000" cy="4572000"/>
          </a:xfrm>
          <a:prstGeom prst="ellipse">
            <a:avLst/>
          </a:prstGeom>
          <a:solidFill>
            <a:srgbClr val="A855F7">
              <a:alpha val="9000"/>
            </a:srgbClr>
          </a:solidFill>
          <a:ln w="12700">
            <a:solidFill>
              <a:srgbClr val="07040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0" y="-457200"/>
            <a:ext cx="4572000" cy="548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0" b="1" dirty="0">
                <a:solidFill>
                  <a:srgbClr val="7C3AED">
                    <a:alpha val="1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32000" dirty="0"/>
          </a:p>
        </p:txBody>
      </p:sp>
      <p:sp>
        <p:nvSpPr>
          <p:cNvPr id="5" name="Shape 3"/>
          <p:cNvSpPr/>
          <p:nvPr/>
        </p:nvSpPr>
        <p:spPr>
          <a:xfrm>
            <a:off x="548640" y="502920"/>
            <a:ext cx="2011680" cy="256032"/>
          </a:xfrm>
          <a:prstGeom prst="roundRect">
            <a:avLst>
              <a:gd name="adj" fmla="val 50000"/>
            </a:avLst>
          </a:prstGeom>
          <a:solidFill>
            <a:srgbClr val="7C3AED">
              <a:alpha val="2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5029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INVESTOR DECK · 2025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48640" y="10058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Web.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548640" y="173736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Describe It.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548640" y="269748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A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Qevora is the AI platform that turns a single sentence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8A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 a complete, production-ready website.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456432"/>
            <a:ext cx="1828800" cy="0"/>
          </a:xfrm>
          <a:prstGeom prst="line">
            <a:avLst/>
          </a:prstGeom>
          <a:noFill/>
          <a:ln w="1905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61188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A6A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qevora.app</a:t>
            </a:r>
            <a:pPr indent="0" marL="0">
              <a:buNone/>
            </a:pPr>
            <a:r>
              <a:rPr lang="en-US" sz="1000" dirty="0">
                <a:solidFill>
                  <a:srgbClr val="7A6A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·  Confidential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04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5486400" cy="548640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07040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0" y="1828800"/>
            <a:ext cx="4572000" cy="4572000"/>
          </a:xfrm>
          <a:prstGeom prst="ellipse">
            <a:avLst/>
          </a:prstGeom>
          <a:solidFill>
            <a:srgbClr val="A855F7">
              <a:alpha val="9000"/>
            </a:srgbClr>
          </a:solidFill>
          <a:ln w="12700">
            <a:solidFill>
              <a:srgbClr val="07040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200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— THE PROBLEM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 website is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too hard.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2651760" cy="2468880"/>
          </a:xfrm>
          <a:prstGeom prst="roundRect">
            <a:avLst>
              <a:gd name="adj" fmla="val 4444"/>
            </a:avLst>
          </a:prstGeom>
          <a:solidFill>
            <a:srgbClr val="130D2A">
              <a:alpha val="20000"/>
            </a:srgbClr>
          </a:solidFill>
          <a:ln w="12700">
            <a:solidFill>
              <a:srgbClr val="2D1A52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212140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⏱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263347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of work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2999232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8A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Hiring a developer or agency takes 4–12 weeks and thousands of dollars for a simple website.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55848" y="2011680"/>
            <a:ext cx="2651760" cy="2468880"/>
          </a:xfrm>
          <a:prstGeom prst="roundRect">
            <a:avLst>
              <a:gd name="adj" fmla="val 4444"/>
            </a:avLst>
          </a:prstGeom>
          <a:solidFill>
            <a:srgbClr val="130D2A">
              <a:alpha val="20000"/>
            </a:srgbClr>
          </a:solidFill>
          <a:ln w="12700">
            <a:solidFill>
              <a:srgbClr val="2D1A52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355848" y="212140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💸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355848" y="263347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cost barrier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93008" y="2999232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8A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small business website costs $3,000–$15,000 — unaffordable for most entrepreneurs.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54496" y="2011680"/>
            <a:ext cx="2651760" cy="2468880"/>
          </a:xfrm>
          <a:prstGeom prst="roundRect">
            <a:avLst>
              <a:gd name="adj" fmla="val 4444"/>
            </a:avLst>
          </a:prstGeom>
          <a:solidFill>
            <a:srgbClr val="130D2A">
              <a:alpha val="20000"/>
            </a:srgbClr>
          </a:solidFill>
          <a:ln w="12700">
            <a:solidFill>
              <a:srgbClr val="2D1A52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254496" y="212140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🔧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254496" y="263347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gatekeeping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91656" y="2999232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8A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builders require design skills, coding knowledge, or expensive monthly agency retainers.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48640" y="46634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A6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 billion people worldwide have a business idea — only 200 million have a website.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04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5486400" cy="548640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07040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0" y="1828800"/>
            <a:ext cx="4572000" cy="4572000"/>
          </a:xfrm>
          <a:prstGeom prst="ellipse">
            <a:avLst/>
          </a:prstGeom>
          <a:solidFill>
            <a:srgbClr val="A855F7">
              <a:alpha val="9000"/>
            </a:srgbClr>
          </a:solidFill>
          <a:ln w="12700">
            <a:solidFill>
              <a:srgbClr val="07040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200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— OUR SOLUTION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Qevora.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12618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your business. Get a complete website in seconds.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1874520"/>
            <a:ext cx="2926080" cy="1463040"/>
          </a:xfrm>
          <a:prstGeom prst="roundRect">
            <a:avLst>
              <a:gd name="adj" fmla="val 7500"/>
            </a:avLst>
          </a:prstGeom>
          <a:solidFill>
            <a:srgbClr val="130D2A">
              <a:alpha val="20000"/>
            </a:srgbClr>
          </a:solidFill>
          <a:ln w="12700">
            <a:solidFill>
              <a:srgbClr val="2D1A52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6596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7A6A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 Input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94360" y="224028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B8A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need a landing page for my coffee shop in Cairo. Modern style, include menu and booking."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456432" y="2606040"/>
            <a:ext cx="457200" cy="0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49040" y="24505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084FC"/>
                </a:solidFill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041648" y="2606040"/>
            <a:ext cx="457200" cy="0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0" y="1874520"/>
            <a:ext cx="1828800" cy="1463040"/>
          </a:xfrm>
          <a:prstGeom prst="roundRect">
            <a:avLst>
              <a:gd name="adj" fmla="val 7500"/>
            </a:avLst>
          </a:prstGeom>
          <a:solidFill>
            <a:srgbClr val="7C3AED">
              <a:alpha val="80000"/>
            </a:srgbClr>
          </a:solidFill>
          <a:ln w="19050">
            <a:solidFill>
              <a:srgbClr val="C084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0" y="20574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⬡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572000" y="25603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Qevora AI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0" y="28346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3.2 seconds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473952" y="2606040"/>
            <a:ext cx="457200" cy="0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66560" y="24505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084FC"/>
                </a:solidFill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7059168" y="2606040"/>
            <a:ext cx="457200" cy="0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132320" y="1874520"/>
            <a:ext cx="1920240" cy="1463040"/>
          </a:xfrm>
          <a:prstGeom prst="roundRect">
            <a:avLst>
              <a:gd name="adj" fmla="val 7500"/>
            </a:avLst>
          </a:prstGeom>
          <a:solidFill>
            <a:srgbClr val="130D2A">
              <a:alpha val="20000"/>
            </a:srgbClr>
          </a:solidFill>
          <a:ln w="12700">
            <a:solidFill>
              <a:srgbClr val="2D1A52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178040" y="205740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Complete Website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178040" y="237744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A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5 pages generated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7178040" y="258775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A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SEO optimized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178040" y="2798064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A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Mobile responsive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7178040" y="3008376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A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Ready to publish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57200" y="4480560"/>
            <a:ext cx="1325880" cy="256032"/>
          </a:xfrm>
          <a:prstGeom prst="roundRect">
            <a:avLst>
              <a:gd name="adj" fmla="val 50000"/>
            </a:avLst>
          </a:prstGeom>
          <a:solidFill>
            <a:srgbClr val="7C3AED">
              <a:alpha val="2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448056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 Generation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1938528" y="4480560"/>
            <a:ext cx="1325880" cy="256032"/>
          </a:xfrm>
          <a:prstGeom prst="roundRect">
            <a:avLst>
              <a:gd name="adj" fmla="val 50000"/>
            </a:avLst>
          </a:prstGeom>
          <a:solidFill>
            <a:srgbClr val="7C3AED">
              <a:alpha val="2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38528" y="448056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 Editor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3419856" y="4480560"/>
            <a:ext cx="1325880" cy="256032"/>
          </a:xfrm>
          <a:prstGeom prst="roundRect">
            <a:avLst>
              <a:gd name="adj" fmla="val 50000"/>
            </a:avLst>
          </a:prstGeom>
          <a:solidFill>
            <a:srgbClr val="7C3AED">
              <a:alpha val="2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19856" y="448056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1-Click Publish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4901184" y="4480560"/>
            <a:ext cx="1325880" cy="256032"/>
          </a:xfrm>
          <a:prstGeom prst="roundRect">
            <a:avLst>
              <a:gd name="adj" fmla="val 50000"/>
            </a:avLst>
          </a:prstGeom>
          <a:solidFill>
            <a:srgbClr val="7C3AED">
              <a:alpha val="2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01184" y="448056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 Domain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6382512" y="4480560"/>
            <a:ext cx="1325880" cy="256032"/>
          </a:xfrm>
          <a:prstGeom prst="roundRect">
            <a:avLst>
              <a:gd name="adj" fmla="val 50000"/>
            </a:avLst>
          </a:prstGeom>
          <a:solidFill>
            <a:srgbClr val="7C3AED">
              <a:alpha val="2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82512" y="448056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SEO Built-in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7863840" y="4480560"/>
            <a:ext cx="1325880" cy="256032"/>
          </a:xfrm>
          <a:prstGeom prst="roundRect">
            <a:avLst>
              <a:gd name="adj" fmla="val 50000"/>
            </a:avLst>
          </a:prstGeom>
          <a:solidFill>
            <a:srgbClr val="7C3AED">
              <a:alpha val="2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863840" y="448056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Code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04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5486400" cy="548640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07040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0" y="1828800"/>
            <a:ext cx="4572000" cy="4572000"/>
          </a:xfrm>
          <a:prstGeom prst="ellipse">
            <a:avLst/>
          </a:prstGeom>
          <a:solidFill>
            <a:srgbClr val="A855F7">
              <a:alpha val="9000"/>
            </a:srgbClr>
          </a:solidFill>
          <a:ln w="12700">
            <a:solidFill>
              <a:srgbClr val="07040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200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— PRODUCT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48640" y="59436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platform,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just a generator.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265176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8E0F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965960"/>
            <a:ext cx="411480" cy="411480"/>
          </a:xfrm>
          <a:prstGeom prst="ellipse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965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⬡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43000" y="196596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0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Website Generator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331720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3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→ full website in under 5 seconds. Pages, copy, images, structure — all generated.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355848" y="1828800"/>
            <a:ext cx="265176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8E0F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538728" y="1965960"/>
            <a:ext cx="411480" cy="411480"/>
          </a:xfrm>
          <a:prstGeom prst="ellipse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38728" y="1965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◈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041648" y="196596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0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Visual Editor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538728" y="2331720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3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Drag, drop, edit. Real-time preview. No code required — ever.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254496" y="1828800"/>
            <a:ext cx="265176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8E0F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37376" y="1965960"/>
            <a:ext cx="411480" cy="411480"/>
          </a:xfrm>
          <a:prstGeom prst="ellipse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37376" y="1965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◎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940296" y="196596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0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Publishing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37376" y="2331720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3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to qevora.app subdomain instantly. Custom domains in one click.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" y="3291840"/>
            <a:ext cx="265176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8E0F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0080" y="3429000"/>
            <a:ext cx="411480" cy="411480"/>
          </a:xfrm>
          <a:prstGeom prst="ellipse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3429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△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143000" y="34290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0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Content Editing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0080" y="3794760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3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type "make the hero section bolder" — AI edits for you.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355848" y="3291840"/>
            <a:ext cx="265176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8E0F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538728" y="3429000"/>
            <a:ext cx="411480" cy="411480"/>
          </a:xfrm>
          <a:prstGeom prst="ellipse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538728" y="3429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◇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041648" y="34290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0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Optimization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538728" y="3794760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3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tags, sitemaps, structured data, and Core Web Vitals — automated.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254496" y="3291840"/>
            <a:ext cx="265176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8E0F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437376" y="3429000"/>
            <a:ext cx="411480" cy="411480"/>
          </a:xfrm>
          <a:prstGeom prst="ellipse">
            <a:avLst/>
          </a:prstGeom>
          <a:solidFill>
            <a:srgbClr val="7C3AED">
              <a:alpha val="8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37376" y="3429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✦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940296" y="34290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0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&amp; Own Your Code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437376" y="3794760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3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clean HTML/CSS/JS. No vendor lock-in. Your site, forever.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7C3AED">
              <a:alpha val="6000"/>
            </a:srgbClr>
          </a:solidFill>
          <a:ln w="12700">
            <a:solidFill>
              <a:srgbClr val="F8F5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286000"/>
            <a:ext cx="3657600" cy="3657600"/>
          </a:xfrm>
          <a:prstGeom prst="ellipse">
            <a:avLst/>
          </a:prstGeom>
          <a:solidFill>
            <a:srgbClr val="C084FC">
              <a:alpha val="5000"/>
            </a:srgbClr>
          </a:solidFill>
          <a:ln w="12700">
            <a:solidFill>
              <a:srgbClr val="F8F5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200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— MARKET OPPORTUNITY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48640" y="59436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0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$100B+ market ready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1A0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disruption.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4846320" y="731520"/>
            <a:ext cx="4023360" cy="4023360"/>
          </a:xfrm>
          <a:prstGeom prst="ellipse">
            <a:avLst/>
          </a:prstGeom>
          <a:solidFill>
            <a:srgbClr val="7C3AED">
              <a:alpha val="15000"/>
            </a:srgbClr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0" y="86868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TAM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846320" y="117043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$110B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846320" y="16459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6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creation &amp; hosting market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394960" y="1463040"/>
            <a:ext cx="2926080" cy="2926080"/>
          </a:xfrm>
          <a:prstGeom prst="ellipse">
            <a:avLst/>
          </a:prstGeom>
          <a:solidFill>
            <a:srgbClr val="7C3AED">
              <a:alpha val="25000"/>
            </a:srgbClr>
          </a:solidFill>
          <a:ln w="19050">
            <a:solidFill>
              <a:srgbClr val="A855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94960" y="25146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 $38B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394960" y="283464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6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AI-enabled builders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6035040" y="2194560"/>
            <a:ext cx="1645920" cy="1645920"/>
          </a:xfrm>
          <a:prstGeom prst="ellipse">
            <a:avLst/>
          </a:prstGeom>
          <a:solidFill>
            <a:srgbClr val="C084FC">
              <a:alpha val="60000"/>
            </a:srgbClr>
          </a:solidFill>
          <a:ln w="25400">
            <a:solidFill>
              <a:srgbClr val="C084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35040" y="2487168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$2.1B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1737360"/>
            <a:ext cx="411480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8E0F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0080" y="1801368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1.8B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1719072" y="1938528"/>
            <a:ext cx="0" cy="256032"/>
          </a:xfrm>
          <a:prstGeom prst="line">
            <a:avLst/>
          </a:prstGeom>
          <a:noFill/>
          <a:ln w="12700">
            <a:solidFill>
              <a:srgbClr val="E8E0F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874520" y="1801368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3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with business ideas globally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2514600"/>
            <a:ext cx="411480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8E0F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0080" y="2578608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200M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1719072" y="2715768"/>
            <a:ext cx="0" cy="256032"/>
          </a:xfrm>
          <a:prstGeom prst="line">
            <a:avLst/>
          </a:prstGeom>
          <a:noFill/>
          <a:ln w="12700">
            <a:solidFill>
              <a:srgbClr val="E8E0F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74520" y="2578608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3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Businesses currently without a website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3291840"/>
            <a:ext cx="411480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8E0F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40080" y="3355848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40M+</a:t>
            </a:r>
            <a:endParaRPr lang="en-US" sz="2400" dirty="0"/>
          </a:p>
        </p:txBody>
      </p:sp>
      <p:sp>
        <p:nvSpPr>
          <p:cNvPr id="25" name="Shape 23"/>
          <p:cNvSpPr/>
          <p:nvPr/>
        </p:nvSpPr>
        <p:spPr>
          <a:xfrm>
            <a:off x="1719072" y="3493008"/>
            <a:ext cx="0" cy="256032"/>
          </a:xfrm>
          <a:prstGeom prst="line">
            <a:avLst/>
          </a:prstGeom>
          <a:noFill/>
          <a:ln w="12700">
            <a:solidFill>
              <a:srgbClr val="E8E0F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874520" y="3355848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3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businesses created every year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4069080"/>
            <a:ext cx="411480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8E0F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40080" y="4133088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67%</a:t>
            </a:r>
            <a:endParaRPr lang="en-US" sz="2400" dirty="0"/>
          </a:p>
        </p:txBody>
      </p:sp>
      <p:sp>
        <p:nvSpPr>
          <p:cNvPr id="29" name="Shape 27"/>
          <p:cNvSpPr/>
          <p:nvPr/>
        </p:nvSpPr>
        <p:spPr>
          <a:xfrm>
            <a:off x="1719072" y="4270248"/>
            <a:ext cx="0" cy="256032"/>
          </a:xfrm>
          <a:prstGeom prst="line">
            <a:avLst/>
          </a:prstGeom>
          <a:noFill/>
          <a:ln w="12700">
            <a:solidFill>
              <a:srgbClr val="E8E0F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874520" y="4133088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3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SMBs say website is their #1 growth tool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7C3AED">
              <a:alpha val="6000"/>
            </a:srgbClr>
          </a:solidFill>
          <a:ln w="12700">
            <a:solidFill>
              <a:srgbClr val="F8F5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286000"/>
            <a:ext cx="3657600" cy="3657600"/>
          </a:xfrm>
          <a:prstGeom prst="ellipse">
            <a:avLst/>
          </a:prstGeom>
          <a:solidFill>
            <a:srgbClr val="C084FC">
              <a:alpha val="5000"/>
            </a:srgbClr>
          </a:solidFill>
          <a:ln w="12700">
            <a:solidFill>
              <a:srgbClr val="F8F5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200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— COMPETITIVE LANDSCAPE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48640" y="594360"/>
            <a:ext cx="457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0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We're in the right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1A0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to win.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93268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300" kern="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AI-Powered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57200" y="46634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300" kern="0" dirty="0">
                <a:solidFill>
                  <a:srgbClr val="7A6A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Template-Only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37160" y="1280160"/>
            <a:ext cx="10972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00" kern="0" dirty="0">
                <a:solidFill>
                  <a:srgbClr val="7A6A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Complex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772400" y="1280160"/>
            <a:ext cx="10972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00" kern="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Simple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188720" y="1234440"/>
            <a:ext cx="6766560" cy="3383280"/>
          </a:xfrm>
          <a:prstGeom prst="roundRect">
            <a:avLst>
              <a:gd name="adj" fmla="val 2703"/>
            </a:avLst>
          </a:prstGeom>
          <a:solidFill>
            <a:srgbClr val="F4F0FF"/>
          </a:solidFill>
          <a:ln w="12700">
            <a:solidFill>
              <a:srgbClr val="E8E0F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0" y="1280160"/>
            <a:ext cx="0" cy="3291840"/>
          </a:xfrm>
          <a:prstGeom prst="line">
            <a:avLst/>
          </a:prstGeom>
          <a:noFill/>
          <a:ln w="12700">
            <a:solidFill>
              <a:srgbClr val="E8E0F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34440" y="2944368"/>
            <a:ext cx="6720840" cy="0"/>
          </a:xfrm>
          <a:prstGeom prst="line">
            <a:avLst/>
          </a:prstGeom>
          <a:noFill/>
          <a:ln w="12700">
            <a:solidFill>
              <a:srgbClr val="E8E0F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029968" y="3767328"/>
            <a:ext cx="146304" cy="146304"/>
          </a:xfrm>
          <a:prstGeom prst="ellipse">
            <a:avLst/>
          </a:prstGeom>
          <a:solidFill>
            <a:srgbClr val="B0A0C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31136" y="373075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6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Wix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852928" y="4041648"/>
            <a:ext cx="146304" cy="146304"/>
          </a:xfrm>
          <a:prstGeom prst="ellipse">
            <a:avLst/>
          </a:prstGeom>
          <a:solidFill>
            <a:srgbClr val="B0A0C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54096" y="400507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6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Squarespace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664208" y="3127248"/>
            <a:ext cx="146304" cy="146304"/>
          </a:xfrm>
          <a:prstGeom prst="ellipse">
            <a:avLst/>
          </a:prstGeom>
          <a:solidFill>
            <a:srgbClr val="B0A0C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865376" y="309067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6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WordPress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487168" y="1938528"/>
            <a:ext cx="146304" cy="14630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688336" y="190195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3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Webflow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596128" y="1481328"/>
            <a:ext cx="146304" cy="14630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797296" y="144475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3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Framer AI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784848" y="1755648"/>
            <a:ext cx="146304" cy="14630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86016" y="171907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3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Durable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858000" y="1417320"/>
            <a:ext cx="256032" cy="256032"/>
          </a:xfrm>
          <a:prstGeom prst="ellipse">
            <a:avLst/>
          </a:prstGeom>
          <a:solidFill>
            <a:srgbClr val="7C3AED"/>
          </a:solidFill>
          <a:ln w="25400">
            <a:solidFill>
              <a:srgbClr val="C084FC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4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492240" y="1170432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Qevora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48640" y="47548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A3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edge: The only platform that combines enterprise-grade AI generation with genuine simplicity and no vendor lock-in.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04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5486400" cy="548640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07040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0" y="1828800"/>
            <a:ext cx="4572000" cy="4572000"/>
          </a:xfrm>
          <a:prstGeom prst="ellipse">
            <a:avLst/>
          </a:prstGeom>
          <a:solidFill>
            <a:srgbClr val="A855F7">
              <a:alpha val="9000"/>
            </a:srgbClr>
          </a:solidFill>
          <a:ln w="12700">
            <a:solidFill>
              <a:srgbClr val="07040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200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— BUSINESS MODEL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48640" y="59436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SaaS.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Predictable revenue.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2651760" cy="3246120"/>
          </a:xfrm>
          <a:prstGeom prst="roundRect">
            <a:avLst>
              <a:gd name="adj" fmla="val 4828"/>
            </a:avLst>
          </a:prstGeom>
          <a:solidFill>
            <a:srgbClr val="130D2A">
              <a:alpha val="20000"/>
            </a:srgbClr>
          </a:solidFill>
          <a:ln w="12700">
            <a:solidFill>
              <a:srgbClr val="2D1A52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80136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B8A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112264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57200" y="2606040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6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forever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31520" y="2880360"/>
            <a:ext cx="2103120" cy="0"/>
          </a:xfrm>
          <a:prstGeom prst="line">
            <a:avLst/>
          </a:prstGeom>
          <a:noFill/>
          <a:ln w="6350">
            <a:solidFill>
              <a:srgbClr val="2D1A5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99923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A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1 website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85800" y="330098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A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qevora.app subdomain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85800" y="360273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A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AI generation (3/mo)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85800" y="390448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A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Basic editor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85800" y="42062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A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Community support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355848" y="1691640"/>
            <a:ext cx="2651760" cy="3246120"/>
          </a:xfrm>
          <a:prstGeom prst="roundRect">
            <a:avLst>
              <a:gd name="adj" fmla="val 4828"/>
            </a:avLst>
          </a:prstGeom>
          <a:solidFill>
            <a:srgbClr val="7C3AED"/>
          </a:solidFill>
          <a:ln w="25400">
            <a:solidFill>
              <a:srgbClr val="C084FC"/>
            </a:solidFill>
            <a:prstDash val="solid"/>
          </a:ln>
          <a:effectLst>
            <a:outerShdw sx="100000" sy="100000" kx="0" ky="0" algn="bl" rotWithShape="0" blurRad="254000" dist="50800" dir="8100000">
              <a:srgbClr val="000000">
                <a:alpha val="5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355848" y="180136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55848" y="2112264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$19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3355848" y="2606040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DD6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month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630168" y="2880360"/>
            <a:ext cx="2103120" cy="0"/>
          </a:xfrm>
          <a:prstGeom prst="line">
            <a:avLst/>
          </a:prstGeom>
          <a:noFill/>
          <a:ln w="6350">
            <a:solidFill>
              <a:srgbClr val="9F67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84448" y="299923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5 websites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584448" y="330098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Custom domain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584448" y="360273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Unlimited AI generation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584448" y="390448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Advanced editor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84448" y="42062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SEO tools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584448" y="45079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D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Priority support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254496" y="1691640"/>
            <a:ext cx="2651760" cy="3246120"/>
          </a:xfrm>
          <a:prstGeom prst="roundRect">
            <a:avLst>
              <a:gd name="adj" fmla="val 4828"/>
            </a:avLst>
          </a:prstGeom>
          <a:solidFill>
            <a:srgbClr val="130D2A">
              <a:alpha val="20000"/>
            </a:srgbClr>
          </a:solidFill>
          <a:ln w="12700">
            <a:solidFill>
              <a:srgbClr val="2D1A52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254496" y="180136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Agency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254496" y="2112264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$79</a:t>
            </a:r>
            <a:endParaRPr lang="en-US" sz="3600" dirty="0"/>
          </a:p>
        </p:txBody>
      </p:sp>
      <p:sp>
        <p:nvSpPr>
          <p:cNvPr id="30" name="Text 28"/>
          <p:cNvSpPr/>
          <p:nvPr/>
        </p:nvSpPr>
        <p:spPr>
          <a:xfrm>
            <a:off x="6254496" y="2606040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6A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month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528816" y="2880360"/>
            <a:ext cx="2103120" cy="0"/>
          </a:xfrm>
          <a:prstGeom prst="line">
            <a:avLst/>
          </a:prstGeom>
          <a:noFill/>
          <a:ln w="6350">
            <a:solidFill>
              <a:srgbClr val="2D1A5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83096" y="299923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A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Unlimited websites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483096" y="330098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A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White-label option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483096" y="360273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A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Client management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483096" y="390448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A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Team collaboration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483096" y="42062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A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API access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483096" y="45079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8A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Dedicated support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48640" y="4974336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6A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Primary: Monthly subscriptions  ·  Secondary: Custom domain fees + white-label licensing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04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5486400" cy="548640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07040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0" y="1828800"/>
            <a:ext cx="4572000" cy="4572000"/>
          </a:xfrm>
          <a:prstGeom prst="ellipse">
            <a:avLst/>
          </a:prstGeom>
          <a:solidFill>
            <a:srgbClr val="A855F7">
              <a:alpha val="9000"/>
            </a:srgbClr>
          </a:solidFill>
          <a:ln w="12700">
            <a:solidFill>
              <a:srgbClr val="07040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200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— TRACTION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4864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signals are strong.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1965960" cy="1417320"/>
          </a:xfrm>
          <a:prstGeom prst="roundRect">
            <a:avLst>
              <a:gd name="adj" fmla="val 7742"/>
            </a:avLst>
          </a:prstGeom>
          <a:solidFill>
            <a:srgbClr val="130D2A">
              <a:alpha val="20000"/>
            </a:srgbClr>
          </a:solidFill>
          <a:ln w="12700">
            <a:solidFill>
              <a:srgbClr val="2D1A52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627632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4,200+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57200" y="221284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Waitlist signups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57200" y="2487168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6A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6 weeks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633472" y="1508760"/>
            <a:ext cx="1965960" cy="1417320"/>
          </a:xfrm>
          <a:prstGeom prst="roundRect">
            <a:avLst>
              <a:gd name="adj" fmla="val 7742"/>
            </a:avLst>
          </a:prstGeom>
          <a:solidFill>
            <a:srgbClr val="130D2A">
              <a:alpha val="20000"/>
            </a:srgbClr>
          </a:solidFill>
          <a:ln w="12700">
            <a:solidFill>
              <a:srgbClr val="2D1A52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633472" y="1627632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89%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2633472" y="221284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rate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633472" y="2487168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6A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first 30 days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809744" y="1508760"/>
            <a:ext cx="1965960" cy="1417320"/>
          </a:xfrm>
          <a:prstGeom prst="roundRect">
            <a:avLst>
              <a:gd name="adj" fmla="val 7742"/>
            </a:avLst>
          </a:prstGeom>
          <a:solidFill>
            <a:srgbClr val="130D2A">
              <a:alpha val="20000"/>
            </a:srgbClr>
          </a:solidFill>
          <a:ln w="12700">
            <a:solidFill>
              <a:srgbClr val="2D1A52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09744" y="1627632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3.2s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4809744" y="221284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generation time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809744" y="2487168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6A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vs 12s industry avg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986016" y="1508760"/>
            <a:ext cx="1965960" cy="1417320"/>
          </a:xfrm>
          <a:prstGeom prst="roundRect">
            <a:avLst>
              <a:gd name="adj" fmla="val 7742"/>
            </a:avLst>
          </a:prstGeom>
          <a:solidFill>
            <a:srgbClr val="130D2A">
              <a:alpha val="20000"/>
            </a:srgbClr>
          </a:solidFill>
          <a:ln w="12700">
            <a:solidFill>
              <a:srgbClr val="2D1A52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986016" y="1627632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6986016" y="221284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acquisition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986016" y="2487168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6A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100% organic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48640" y="31546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A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Waitlist Growth</a:t>
            </a:r>
            <a:endParaRPr lang="en-US" sz="1000" dirty="0"/>
          </a:p>
        </p:txBody>
      </p:sp>
      <p:graphicFrame>
        <p:nvGraphicFramePr>
          <p:cNvPr id="23" name="Chart 0" descr=""/>
          <p:cNvGraphicFramePr/>
          <p:nvPr/>
        </p:nvGraphicFramePr>
        <p:xfrm>
          <a:off x="457200" y="3429000"/>
          <a:ext cx="4754880" cy="1508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4" name="Text 21"/>
          <p:cNvSpPr/>
          <p:nvPr/>
        </p:nvSpPr>
        <p:spPr>
          <a:xfrm>
            <a:off x="5486400" y="315468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A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Milestones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5486400" y="3547872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07040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742432" y="349300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A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Featured in 3 AI newsletters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5486400" y="3931920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07040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742432" y="387705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A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 with 2 startup incubators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5486400" y="4315968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07040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742432" y="426110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A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 users in 18 countries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5486400" y="4700016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07040F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742432" y="464515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A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NPS score: 72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7C3AED">
              <a:alpha val="6000"/>
            </a:srgbClr>
          </a:solidFill>
          <a:ln w="12700">
            <a:solidFill>
              <a:srgbClr val="F8F5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286000"/>
            <a:ext cx="3657600" cy="3657600"/>
          </a:xfrm>
          <a:prstGeom prst="ellipse">
            <a:avLst/>
          </a:prstGeom>
          <a:solidFill>
            <a:srgbClr val="C084FC">
              <a:alpha val="5000"/>
            </a:srgbClr>
          </a:solidFill>
          <a:ln w="12700">
            <a:solidFill>
              <a:srgbClr val="F8F5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200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— GO-TO-MARKET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48640" y="59436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0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reach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1A0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200M businesses.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2651760" cy="306324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E8E0F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21792" y="1965960"/>
            <a:ext cx="1097280" cy="237744"/>
          </a:xfrm>
          <a:prstGeom prst="roundRect">
            <a:avLst>
              <a:gd name="adj" fmla="val 50000"/>
            </a:avLst>
          </a:prstGeom>
          <a:solidFill>
            <a:srgbClr val="7C3AED">
              <a:alpha val="2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196596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1 · Now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621792" y="226771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0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Product-Led Growth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" y="2624328"/>
            <a:ext cx="2331720" cy="0"/>
          </a:xfrm>
          <a:prstGeom prst="line">
            <a:avLst/>
          </a:prstGeom>
          <a:noFill/>
          <a:ln w="10160">
            <a:solidFill>
              <a:srgbClr val="E8E0F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" y="2816352"/>
            <a:ext cx="109728" cy="10972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0392" y="2743200"/>
            <a:ext cx="20848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3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Freemium model drives viral sharing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58368" y="3273552"/>
            <a:ext cx="109728" cy="10972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0392" y="3200400"/>
            <a:ext cx="20848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3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site built on Qevora shows 'Built with Qevora'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58368" y="3730752"/>
            <a:ext cx="109728" cy="10972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0392" y="3657600"/>
            <a:ext cx="20848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3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 &amp; YouTube influencer partnerships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58368" y="4187952"/>
            <a:ext cx="109728" cy="10972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0392" y="4114800"/>
            <a:ext cx="20848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3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Hunt &amp; AppSumo launches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355848" y="1828800"/>
            <a:ext cx="2651760" cy="306324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E8E0F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520440" y="1965960"/>
            <a:ext cx="1097280" cy="237744"/>
          </a:xfrm>
          <a:prstGeom prst="roundRect">
            <a:avLst>
              <a:gd name="adj" fmla="val 50000"/>
            </a:avLst>
          </a:prstGeom>
          <a:solidFill>
            <a:srgbClr val="A855F7">
              <a:alpha val="20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20440" y="196596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A85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2 · Q3 2025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3520440" y="226771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0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&amp; Community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520440" y="2624328"/>
            <a:ext cx="2331720" cy="0"/>
          </a:xfrm>
          <a:prstGeom prst="line">
            <a:avLst/>
          </a:prstGeom>
          <a:noFill/>
          <a:ln w="10160">
            <a:solidFill>
              <a:srgbClr val="E8E0F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557016" y="2816352"/>
            <a:ext cx="109728" cy="109728"/>
          </a:xfrm>
          <a:prstGeom prst="ellipse">
            <a:avLst/>
          </a:prstGeom>
          <a:solidFill>
            <a:srgbClr val="A855F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49040" y="2743200"/>
            <a:ext cx="20848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3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SEO-optimized content hub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557016" y="3273552"/>
            <a:ext cx="109728" cy="109728"/>
          </a:xfrm>
          <a:prstGeom prst="ellipse">
            <a:avLst/>
          </a:prstGeom>
          <a:solidFill>
            <a:srgbClr val="A855F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749040" y="3200400"/>
            <a:ext cx="20848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3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Qevora Academy (free courses)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557016" y="3730752"/>
            <a:ext cx="109728" cy="109728"/>
          </a:xfrm>
          <a:prstGeom prst="ellipse">
            <a:avLst/>
          </a:prstGeom>
          <a:solidFill>
            <a:srgbClr val="A855F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749040" y="3657600"/>
            <a:ext cx="20848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3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Discord community 10K+ members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557016" y="4187952"/>
            <a:ext cx="109728" cy="109728"/>
          </a:xfrm>
          <a:prstGeom prst="ellipse">
            <a:avLst/>
          </a:prstGeom>
          <a:solidFill>
            <a:srgbClr val="A855F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749040" y="4114800"/>
            <a:ext cx="20848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3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Affiliate program (30% recurring)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254496" y="1828800"/>
            <a:ext cx="2651760" cy="306324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E8E0F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419088" y="1965960"/>
            <a:ext cx="1097280" cy="237744"/>
          </a:xfrm>
          <a:prstGeom prst="roundRect">
            <a:avLst>
              <a:gd name="adj" fmla="val 50000"/>
            </a:avLst>
          </a:prstGeom>
          <a:solidFill>
            <a:srgbClr val="3B82F6">
              <a:alpha val="2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19088" y="196596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3 · Q1 2026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6419088" y="226771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0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&amp; Partnerships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6419088" y="2624328"/>
            <a:ext cx="2331720" cy="0"/>
          </a:xfrm>
          <a:prstGeom prst="line">
            <a:avLst/>
          </a:prstGeom>
          <a:noFill/>
          <a:ln w="10160">
            <a:solidFill>
              <a:srgbClr val="E8E0F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455664" y="2816352"/>
            <a:ext cx="109728" cy="10972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647688" y="2743200"/>
            <a:ext cx="20848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3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Agency partner program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455664" y="3273552"/>
            <a:ext cx="109728" cy="10972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647688" y="3200400"/>
            <a:ext cx="20848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3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 accelerator integrations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455664" y="3730752"/>
            <a:ext cx="109728" cy="10972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647688" y="3657600"/>
            <a:ext cx="20848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3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&amp; white-label licensing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455664" y="4187952"/>
            <a:ext cx="109728" cy="10972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647688" y="4114800"/>
            <a:ext cx="20848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3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sales team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04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5486400" cy="548640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07040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0" y="1828800"/>
            <a:ext cx="4572000" cy="4572000"/>
          </a:xfrm>
          <a:prstGeom prst="ellipse">
            <a:avLst/>
          </a:prstGeom>
          <a:solidFill>
            <a:srgbClr val="A855F7">
              <a:alpha val="9000"/>
            </a:srgbClr>
          </a:solidFill>
          <a:ln w="12700">
            <a:solidFill>
              <a:srgbClr val="07040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200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— FINANCIAL PROJECTIONS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48640" y="59436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to $10M ARR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24 months.</a:t>
            </a:r>
            <a:endParaRPr lang="en-US" sz="36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1828800"/>
          <a:ext cx="5486400" cy="3063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6217920" y="1828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A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Assumptions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6217920" y="2194560"/>
            <a:ext cx="2743200" cy="365760"/>
          </a:xfrm>
          <a:prstGeom prst="roundRect">
            <a:avLst>
              <a:gd name="adj" fmla="val 30000"/>
            </a:avLst>
          </a:prstGeom>
          <a:solidFill>
            <a:srgbClr val="130D2A">
              <a:alpha val="15000"/>
            </a:srgbClr>
          </a:solidFill>
          <a:ln w="12700">
            <a:solidFill>
              <a:srgbClr val="2D1A52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355080" y="22402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A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Free→Pro conversion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863840" y="224028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8%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217920" y="2633472"/>
            <a:ext cx="2743200" cy="365760"/>
          </a:xfrm>
          <a:prstGeom prst="roundRect">
            <a:avLst>
              <a:gd name="adj" fmla="val 30000"/>
            </a:avLst>
          </a:prstGeom>
          <a:solidFill>
            <a:srgbClr val="130D2A">
              <a:alpha val="15000"/>
            </a:srgbClr>
          </a:solidFill>
          <a:ln w="12700">
            <a:solidFill>
              <a:srgbClr val="2D1A52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355080" y="267919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A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Pro LTV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7863840" y="2679192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$285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217920" y="3072384"/>
            <a:ext cx="2743200" cy="365760"/>
          </a:xfrm>
          <a:prstGeom prst="roundRect">
            <a:avLst>
              <a:gd name="adj" fmla="val 30000"/>
            </a:avLst>
          </a:prstGeom>
          <a:solidFill>
            <a:srgbClr val="130D2A">
              <a:alpha val="15000"/>
            </a:srgbClr>
          </a:solidFill>
          <a:ln w="12700">
            <a:solidFill>
              <a:srgbClr val="2D1A52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355080" y="311810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A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churn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7863840" y="3118104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&lt;2%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217920" y="3511296"/>
            <a:ext cx="2743200" cy="365760"/>
          </a:xfrm>
          <a:prstGeom prst="roundRect">
            <a:avLst>
              <a:gd name="adj" fmla="val 30000"/>
            </a:avLst>
          </a:prstGeom>
          <a:solidFill>
            <a:srgbClr val="130D2A">
              <a:alpha val="15000"/>
            </a:srgbClr>
          </a:solidFill>
          <a:ln w="12700">
            <a:solidFill>
              <a:srgbClr val="2D1A52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355080" y="355701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A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 (blended)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7863840" y="3557016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$14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6217920" y="3950208"/>
            <a:ext cx="2743200" cy="365760"/>
          </a:xfrm>
          <a:prstGeom prst="roundRect">
            <a:avLst>
              <a:gd name="adj" fmla="val 30000"/>
            </a:avLst>
          </a:prstGeom>
          <a:solidFill>
            <a:srgbClr val="130D2A">
              <a:alpha val="15000"/>
            </a:srgbClr>
          </a:solidFill>
          <a:ln w="12700">
            <a:solidFill>
              <a:srgbClr val="2D1A52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6355080" y="399592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A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LTV:CAC ratio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7863840" y="3995928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20:1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6217920" y="4389120"/>
            <a:ext cx="2743200" cy="365760"/>
          </a:xfrm>
          <a:prstGeom prst="roundRect">
            <a:avLst>
              <a:gd name="adj" fmla="val 30000"/>
            </a:avLst>
          </a:prstGeom>
          <a:solidFill>
            <a:srgbClr val="130D2A">
              <a:alpha val="15000"/>
            </a:srgbClr>
          </a:solidFill>
          <a:ln w="12700">
            <a:solidFill>
              <a:srgbClr val="2D1A52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30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6355080" y="44348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A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7863840" y="443484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82%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7C3AED">
              <a:alpha val="6000"/>
            </a:srgbClr>
          </a:solidFill>
          <a:ln w="12700">
            <a:solidFill>
              <a:srgbClr val="F8F5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286000"/>
            <a:ext cx="3657600" cy="3657600"/>
          </a:xfrm>
          <a:prstGeom prst="ellipse">
            <a:avLst/>
          </a:prstGeom>
          <a:solidFill>
            <a:srgbClr val="C084FC">
              <a:alpha val="5000"/>
            </a:srgbClr>
          </a:solidFill>
          <a:ln w="12700">
            <a:solidFill>
              <a:srgbClr val="F8F5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200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— TEAM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48640" y="59436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0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by people who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1A0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done this before.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406908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E8E0F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2011680"/>
            <a:ext cx="822960" cy="822960"/>
          </a:xfrm>
          <a:prstGeom prst="ellipse">
            <a:avLst/>
          </a:prstGeom>
          <a:solidFill>
            <a:srgbClr val="7C3AED">
              <a:alpha val="80000"/>
            </a:srgbClr>
          </a:solidFill>
          <a:ln w="25400">
            <a:solidFill>
              <a:srgbClr val="C084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0116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600200" y="2011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0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Ahmed Al-Malah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600200" y="228600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Founder &amp; CEO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00200" y="2523744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3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Engineer · Flutter Dev · Full-Stack · CS Alexandria University '26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600200" y="285292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6A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Ooredoo Qatar · ZAINSTEIN · YLY Egypt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800600" y="1828800"/>
            <a:ext cx="406908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E8E0F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983480" y="2011680"/>
            <a:ext cx="822960" cy="822960"/>
          </a:xfrm>
          <a:prstGeom prst="ellipse">
            <a:avLst/>
          </a:prstGeom>
          <a:solidFill>
            <a:srgbClr val="7C3AED">
              <a:alpha val="80000"/>
            </a:srgbClr>
          </a:solidFill>
          <a:ln w="25400">
            <a:solidFill>
              <a:srgbClr val="C084F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83480" y="20116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943600" y="2011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0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CTO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943600" y="228600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Co-Founder &amp; CTO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943600" y="2523744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3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 years full-stack. Led engineering at 2 acquired SaaS companies.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943600" y="285292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6A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Ex-Shopify · Ex-Vercel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57200" y="3337560"/>
            <a:ext cx="406908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E8E0F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0080" y="3520440"/>
            <a:ext cx="822960" cy="822960"/>
          </a:xfrm>
          <a:prstGeom prst="ellipse">
            <a:avLst/>
          </a:prstGeom>
          <a:solidFill>
            <a:srgbClr val="7C3AED">
              <a:alpha val="80000"/>
            </a:srgbClr>
          </a:solidFill>
          <a:ln w="25400">
            <a:solidFill>
              <a:srgbClr val="C084F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35204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600200" y="3520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0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of Design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600200" y="379476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VP Product Design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600200" y="4032504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3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designer with focus on zero-to-one B2B tools. Ex-Framer core team.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600200" y="436168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6A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Ex-Framer · Ex-Notion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800600" y="3337560"/>
            <a:ext cx="406908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E8E0F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983480" y="3520440"/>
            <a:ext cx="822960" cy="822960"/>
          </a:xfrm>
          <a:prstGeom prst="ellipse">
            <a:avLst/>
          </a:prstGeom>
          <a:solidFill>
            <a:srgbClr val="7C3AED">
              <a:alpha val="80000"/>
            </a:srgbClr>
          </a:solidFill>
          <a:ln w="25400">
            <a:solidFill>
              <a:srgbClr val="C084F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83480" y="35204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5943600" y="3520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0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of Growth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943600" y="379476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VP Growth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943600" y="4032504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3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Grew 3 startups from 0 to 100K users. Specialist in PLG and viral loops.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5943600" y="436168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6A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Ex-Durable · Ex-HubSpot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48640" y="477316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A3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We're also backed by advisors from Google DeepMind, Y Combinator, and the open-source AI community.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04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5486400" cy="548640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07040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0" y="1828800"/>
            <a:ext cx="4572000" cy="4572000"/>
          </a:xfrm>
          <a:prstGeom prst="ellipse">
            <a:avLst/>
          </a:prstGeom>
          <a:solidFill>
            <a:srgbClr val="A855F7">
              <a:alpha val="9000"/>
            </a:srgbClr>
          </a:solidFill>
          <a:ln w="12700">
            <a:solidFill>
              <a:srgbClr val="07040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0" y="-914400"/>
            <a:ext cx="6400800" cy="6400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0" b="1" dirty="0">
                <a:solidFill>
                  <a:srgbClr val="7C3AED">
                    <a:alpha val="9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40000" dirty="0"/>
          </a:p>
        </p:txBody>
      </p:sp>
      <p:sp>
        <p:nvSpPr>
          <p:cNvPr id="5" name="Text 3"/>
          <p:cNvSpPr/>
          <p:nvPr/>
        </p:nvSpPr>
        <p:spPr>
          <a:xfrm>
            <a:off x="548640" y="2743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— THE ASK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B8A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We're raising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10241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$1.5M Seed Round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548640" y="166420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build the future of website creation.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2331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A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of Funds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2697480"/>
            <a:ext cx="3200400" cy="182880"/>
          </a:xfrm>
          <a:prstGeom prst="roundRect">
            <a:avLst>
              <a:gd name="adj" fmla="val 50000"/>
            </a:avLst>
          </a:prstGeom>
          <a:solidFill>
            <a:srgbClr val="1E1540"/>
          </a:solidFill>
          <a:ln w="12700">
            <a:solidFill>
              <a:srgbClr val="2D1A5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697480"/>
            <a:ext cx="1440180" cy="1828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12700">
            <a:solidFill>
              <a:srgbClr val="07040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0" y="267919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A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45%  Engineering &amp; AI R&amp;D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48640" y="3154680"/>
            <a:ext cx="3200400" cy="182880"/>
          </a:xfrm>
          <a:prstGeom prst="roundRect">
            <a:avLst>
              <a:gd name="adj" fmla="val 50000"/>
            </a:avLst>
          </a:prstGeom>
          <a:solidFill>
            <a:srgbClr val="1E1540"/>
          </a:solidFill>
          <a:ln w="12700">
            <a:solidFill>
              <a:srgbClr val="2D1A5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3154680"/>
            <a:ext cx="640080" cy="182880"/>
          </a:xfrm>
          <a:prstGeom prst="roundRect">
            <a:avLst>
              <a:gd name="adj" fmla="val 50000"/>
            </a:avLst>
          </a:prstGeom>
          <a:solidFill>
            <a:srgbClr val="A855F7"/>
          </a:solidFill>
          <a:ln w="12700">
            <a:solidFill>
              <a:srgbClr val="07040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0" y="313639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A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 Product &amp; Design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48640" y="3611880"/>
            <a:ext cx="3200400" cy="182880"/>
          </a:xfrm>
          <a:prstGeom prst="roundRect">
            <a:avLst>
              <a:gd name="adj" fmla="val 50000"/>
            </a:avLst>
          </a:prstGeom>
          <a:solidFill>
            <a:srgbClr val="1E1540"/>
          </a:solidFill>
          <a:ln w="12700">
            <a:solidFill>
              <a:srgbClr val="2D1A5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611880"/>
            <a:ext cx="800100" cy="182880"/>
          </a:xfrm>
          <a:prstGeom prst="roundRect">
            <a:avLst>
              <a:gd name="adj" fmla="val 50000"/>
            </a:avLst>
          </a:prstGeom>
          <a:solidFill>
            <a:srgbClr val="C084FC"/>
          </a:solidFill>
          <a:ln w="12700">
            <a:solidFill>
              <a:srgbClr val="07040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0" y="359359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A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  Marketing &amp; Growth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48640" y="4069080"/>
            <a:ext cx="3200400" cy="182880"/>
          </a:xfrm>
          <a:prstGeom prst="roundRect">
            <a:avLst>
              <a:gd name="adj" fmla="val 50000"/>
            </a:avLst>
          </a:prstGeom>
          <a:solidFill>
            <a:srgbClr val="1E1540"/>
          </a:solidFill>
          <a:ln w="12700">
            <a:solidFill>
              <a:srgbClr val="2D1A5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4069080"/>
            <a:ext cx="320040" cy="182880"/>
          </a:xfrm>
          <a:prstGeom prst="roundRect">
            <a:avLst>
              <a:gd name="adj" fmla="val 50000"/>
            </a:avLst>
          </a:prstGeom>
          <a:solidFill>
            <a:srgbClr val="7A6A94"/>
          </a:solidFill>
          <a:ln w="12700">
            <a:solidFill>
              <a:srgbClr val="07040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0" y="405079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A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  Operations &amp; Legal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48640" y="422452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A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achieve: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4498848"/>
            <a:ext cx="2743200" cy="256032"/>
          </a:xfrm>
          <a:prstGeom prst="roundRect">
            <a:avLst>
              <a:gd name="adj" fmla="val 50000"/>
            </a:avLst>
          </a:prstGeom>
          <a:solidFill>
            <a:srgbClr val="7C3AED">
              <a:alpha val="2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49884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Launch beta → 50K users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3364992" y="4498848"/>
            <a:ext cx="2743200" cy="256032"/>
          </a:xfrm>
          <a:prstGeom prst="roundRect">
            <a:avLst>
              <a:gd name="adj" fmla="val 50000"/>
            </a:avLst>
          </a:prstGeom>
          <a:solidFill>
            <a:srgbClr val="7C3AED">
              <a:alpha val="2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64992" y="449884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Hit $500K ARR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6272784" y="4498848"/>
            <a:ext cx="2743200" cy="256032"/>
          </a:xfrm>
          <a:prstGeom prst="roundRect">
            <a:avLst>
              <a:gd name="adj" fmla="val 50000"/>
            </a:avLst>
          </a:prstGeom>
          <a:solidFill>
            <a:srgbClr val="7C3AED">
              <a:alpha val="2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72784" y="449884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Series A at $15M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548640" y="489204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A6A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engmala7112004@gmail.com</a:t>
            </a:r>
            <a:pPr algn="ctr" indent="0" marL="0">
              <a:buNone/>
            </a:pPr>
            <a:r>
              <a:rPr lang="en-US" sz="1000" dirty="0">
                <a:solidFill>
                  <a:srgbClr val="7A6A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·  qevora.app  ·  @ENG_MALA7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Qevora — Pitch Deck</dc:title>
  <dc:subject>AI Website Builder — Investor Presentation</dc:subject>
  <dc:creator>Qevora</dc:creator>
  <cp:lastModifiedBy>Qevora</cp:lastModifiedBy>
  <cp:revision>1</cp:revision>
  <dcterms:created xsi:type="dcterms:W3CDTF">2026-06-27T15:33:17Z</dcterms:created>
  <dcterms:modified xsi:type="dcterms:W3CDTF">2026-06-27T15:33:17Z</dcterms:modified>
</cp:coreProperties>
</file>